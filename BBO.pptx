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4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9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3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1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5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67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9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06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3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53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2D4E0-4CD5-4E3D-8FA9-B866DADBAB71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6E40E-9632-4329-8CEC-D60D92268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4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bousselmi.tn" TargetMode="External"/><Relationship Id="rId2" Type="http://schemas.openxmlformats.org/officeDocument/2006/relationships/hyperlink" Target="http://www.bousselmi.tn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78A9B1-0775-F2A8-F8A5-C27BE66E0E7A}"/>
              </a:ext>
            </a:extLst>
          </p:cNvPr>
          <p:cNvSpPr/>
          <p:nvPr/>
        </p:nvSpPr>
        <p:spPr>
          <a:xfrm>
            <a:off x="-28414" y="1161403"/>
            <a:ext cx="8957187" cy="570595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0E5144-BB20-9FF3-0FB8-5F49B368D58A}"/>
              </a:ext>
            </a:extLst>
          </p:cNvPr>
          <p:cNvSpPr/>
          <p:nvPr/>
        </p:nvSpPr>
        <p:spPr>
          <a:xfrm>
            <a:off x="3052894" y="817368"/>
            <a:ext cx="4221724" cy="45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  <a:t>Bessem </a:t>
            </a:r>
            <a:r>
              <a:rPr lang="fr-FR" sz="1600" dirty="0" err="1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  <a:t>Bousselmi</a:t>
            </a:r>
            <a:r>
              <a:rPr lang="fr-FR" sz="1600" dirty="0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  <a:t> – 8 </a:t>
            </a:r>
            <a:r>
              <a:rPr lang="fr-FR" sz="1600" dirty="0" err="1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  <a:t>years</a:t>
            </a:r>
            <a:r>
              <a:rPr lang="fr-FR" sz="1600" dirty="0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  <a:t> </a:t>
            </a:r>
            <a:r>
              <a:rPr lang="fr-FR" sz="1600" dirty="0" err="1">
                <a:latin typeface="Open Sans Light" panose="020F0502020204030204" pitchFamily="34" charset="0"/>
                <a:ea typeface="Open Sans Light" panose="020F0502020204030204" pitchFamily="34" charset="0"/>
                <a:cs typeface="Open Sans Light" panose="020F0502020204030204" pitchFamily="34" charset="0"/>
              </a:rPr>
              <a:t>Experience</a:t>
            </a:r>
            <a:endParaRPr lang="en-US" sz="1600" dirty="0">
              <a:latin typeface="Open Sans Light" panose="020F0502020204030204" pitchFamily="34" charset="0"/>
              <a:ea typeface="Open Sans Light" panose="020F0502020204030204" pitchFamily="34" charset="0"/>
              <a:cs typeface="Open Sans Light" panose="020F0502020204030204" pitchFamily="34" charset="0"/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A2DFC1DC-AA25-C075-8173-4A7D182BC2E4}"/>
              </a:ext>
            </a:extLst>
          </p:cNvPr>
          <p:cNvSpPr/>
          <p:nvPr/>
        </p:nvSpPr>
        <p:spPr>
          <a:xfrm>
            <a:off x="6704372" y="930390"/>
            <a:ext cx="5358580" cy="5927611"/>
          </a:xfrm>
          <a:prstGeom prst="parallelogram">
            <a:avLst>
              <a:gd name="adj" fmla="val 22838"/>
            </a:avLst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BE8D09-954E-E81E-3E40-1D697E2DDC88}"/>
              </a:ext>
            </a:extLst>
          </p:cNvPr>
          <p:cNvSpPr/>
          <p:nvPr/>
        </p:nvSpPr>
        <p:spPr>
          <a:xfrm>
            <a:off x="1449177" y="-9144"/>
            <a:ext cx="45719" cy="1099386"/>
          </a:xfrm>
          <a:prstGeom prst="rect">
            <a:avLst/>
          </a:prstGeom>
          <a:solidFill>
            <a:srgbClr val="222222"/>
          </a:solidFill>
          <a:ln>
            <a:solidFill>
              <a:srgbClr val="555555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1FD77A-DF07-7D07-DDB8-7BFE152FAA38}"/>
              </a:ext>
            </a:extLst>
          </p:cNvPr>
          <p:cNvSpPr/>
          <p:nvPr/>
        </p:nvSpPr>
        <p:spPr>
          <a:xfrm>
            <a:off x="9994490" y="930390"/>
            <a:ext cx="2197510" cy="592761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2DCCC-AF0A-62E8-F03B-124C258A7DD4}"/>
              </a:ext>
            </a:extLst>
          </p:cNvPr>
          <p:cNvSpPr txBox="1"/>
          <p:nvPr/>
        </p:nvSpPr>
        <p:spPr>
          <a:xfrm>
            <a:off x="-24" y="6350661"/>
            <a:ext cx="72746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965" lvl="1" indent="-239395" algn="l"/>
            <a:r>
              <a: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Mobile Embedded System - Computer Engineer</a:t>
            </a:r>
          </a:p>
          <a:p>
            <a:pPr marL="354965" lvl="1" indent="-239395" algn="l"/>
            <a:r>
              <a: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sz="1200" dirty="0">
                <a:latin typeface="Open Sans ExtraBold" panose="020F0502020204030204" pitchFamily="34" charset="0"/>
                <a:ea typeface="Open Sans ExtraBold" panose="020F0502020204030204" pitchFamily="34" charset="0"/>
                <a:cs typeface="Open Sans ExtraBold" panose="020F0502020204030204" pitchFamily="34" charset="0"/>
              </a:rPr>
              <a:t>ESPRIT</a:t>
            </a:r>
            <a:r>
              <a: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HIGHER SCHOOL OF ENGINEERING AND TECHNOLOGY (2017)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7B73C-268C-6C42-C03F-68BD5C035915}"/>
              </a:ext>
            </a:extLst>
          </p:cNvPr>
          <p:cNvSpPr txBox="1"/>
          <p:nvPr/>
        </p:nvSpPr>
        <p:spPr>
          <a:xfrm>
            <a:off x="50486" y="1941049"/>
            <a:ext cx="1783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Open Sans Bolod"/>
              </a:rPr>
              <a:t>Main references</a:t>
            </a:r>
            <a:endParaRPr lang="fr-FR" dirty="0">
              <a:latin typeface="Open Sans Bolod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10" name="Espace réservé du texte 28">
            <a:extLst>
              <a:ext uri="{FF2B5EF4-FFF2-40B4-BE49-F238E27FC236}">
                <a16:creationId xmlns:a16="http://schemas.microsoft.com/office/drawing/2014/main" id="{1B2A555F-1394-540C-FC00-C5EBC636AA41}"/>
              </a:ext>
            </a:extLst>
          </p:cNvPr>
          <p:cNvSpPr txBox="1">
            <a:spLocks/>
          </p:cNvSpPr>
          <p:nvPr/>
        </p:nvSpPr>
        <p:spPr>
          <a:xfrm>
            <a:off x="7460126" y="1015055"/>
            <a:ext cx="4731874" cy="5758279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50" dirty="0">
                <a:solidFill>
                  <a:schemeClr val="bg1"/>
                </a:solidFill>
                <a:latin typeface="Open Sans "/>
                <a:cs typeface="Arial"/>
              </a:rPr>
              <a:t>       </a:t>
            </a:r>
            <a:r>
              <a:rPr lang="fr-FR" sz="1850" dirty="0" err="1">
                <a:solidFill>
                  <a:schemeClr val="bg1"/>
                </a:solidFill>
                <a:latin typeface="Open Sans "/>
                <a:cs typeface="Arial"/>
              </a:rPr>
              <a:t>Skills</a:t>
            </a:r>
            <a:endParaRPr lang="fr-FR" dirty="0">
              <a:solidFill>
                <a:schemeClr val="bg1"/>
              </a:solidFill>
              <a:latin typeface="Open Sans "/>
            </a:endParaRP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Desktop: 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C#, VB.NET, QT C++, Python, RUST, GTK+, JAVA </a:t>
            </a: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Embedded System &amp; Linux Embedded &amp; IoT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: C, C++, BASH, Python, POSIX API,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FreeRTOS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Zephyr  OS, Linux From Scratch, 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Yocto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Buildroot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OpenWrt</a:t>
            </a:r>
            <a:endParaRPr lang="en-US" sz="950" dirty="0">
              <a:solidFill>
                <a:schemeClr val="bg1"/>
              </a:solidFill>
              <a:latin typeface="Open Sans "/>
            </a:endParaRP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MCU/CPU: 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STM32, NXP Kinetis, NXP i.MX, ESP32, AVR, PIC, Raspberry,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Allwinner</a:t>
            </a:r>
            <a:endParaRPr lang="en-US" sz="950" dirty="0">
              <a:solidFill>
                <a:schemeClr val="bg1"/>
              </a:solidFill>
              <a:latin typeface="Open Sans "/>
            </a:endParaRP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Web: 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PHP, Symfony, Laravel, Nodejs, Django, HTML/CSS/JS,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Wordpress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PrestaShop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Broswer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 Extensions</a:t>
            </a: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Database: 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MongoDB, MySQL, MSSQL,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Postgresql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SQLite</a:t>
            </a: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AI&amp;ML: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Tensorow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 (JS/LITE/MICRO),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Keras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Scikit-learn, Pandas,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Numpy</a:t>
            </a:r>
            <a:endParaRPr lang="en-US" sz="950" dirty="0">
              <a:solidFill>
                <a:schemeClr val="bg1"/>
              </a:solidFill>
              <a:latin typeface="Open Sans "/>
            </a:endParaRP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Mobile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: Flutter, Dart</a:t>
            </a: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Cloud: 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Kubernetes, Docker, Jenkins,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OpenKVM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Azure DevOps Server, VMware, Ansible, Nexus, Prometheus</a:t>
            </a: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Electronics: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Altuim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Kicad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Amplier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Sift register, Decoder, PMIC, Multiplexer, Flash, EEPROM</a:t>
            </a: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Mechanical: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Solidworks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 (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Metalsheet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 &amp; Drawing &amp; Molding injection), 3D printing</a:t>
            </a: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Protocols: 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SSH, FTP, SOAP, HTTP, WebRTC, REST, MQTT, RabbitMQ, CAN, UART, I2S, I2C, SPI</a:t>
            </a: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Tools &amp; Other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: Git,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Conuence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, Jira, Photoshop, Illustrator, </a:t>
            </a:r>
            <a:r>
              <a:rPr lang="en-US" sz="950" dirty="0" err="1">
                <a:solidFill>
                  <a:schemeClr val="bg1"/>
                </a:solidFill>
                <a:latin typeface="Open Sans "/>
              </a:rPr>
              <a:t>ClickUp</a:t>
            </a:r>
            <a:endParaRPr lang="en-US" sz="950" dirty="0">
              <a:solidFill>
                <a:schemeClr val="bg1"/>
              </a:solidFill>
              <a:latin typeface="Open Sans "/>
            </a:endParaRPr>
          </a:p>
          <a:p>
            <a:pPr marL="457200" lvl="1" indent="0">
              <a:buNone/>
            </a:pPr>
            <a:endParaRPr lang="fr-FR" sz="950" dirty="0">
              <a:solidFill>
                <a:schemeClr val="bg1"/>
              </a:solidFill>
              <a:latin typeface="Open Sans "/>
            </a:endParaRPr>
          </a:p>
          <a:p>
            <a:pPr marL="457200" lvl="1" indent="0">
              <a:buNone/>
            </a:pPr>
            <a:r>
              <a:rPr lang="en-US" sz="1400" dirty="0">
                <a:solidFill>
                  <a:schemeClr val="bg1"/>
                </a:solidFill>
                <a:latin typeface="Open Sans "/>
              </a:rPr>
              <a:t>ACHIEVEMENT &amp; PROJECTS</a:t>
            </a:r>
            <a:endParaRPr lang="fr-FR" sz="1800" dirty="0">
              <a:solidFill>
                <a:schemeClr val="bg1"/>
              </a:solidFill>
              <a:latin typeface="Open Sans "/>
              <a:cs typeface="Arial"/>
            </a:endParaRP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LinkLove.fr  - IoT Product 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:  leader project from scratch to market </a:t>
            </a:r>
          </a:p>
          <a:p>
            <a:pPr lvl="1">
              <a:spcBef>
                <a:spcPts val="600"/>
              </a:spcBef>
            </a:pPr>
            <a:r>
              <a:rPr lang="en-US" sz="950" b="1" dirty="0" err="1">
                <a:solidFill>
                  <a:schemeClr val="bg1"/>
                </a:solidFill>
                <a:latin typeface="Open Sans "/>
              </a:rPr>
              <a:t>Fakrouna</a:t>
            </a:r>
            <a:r>
              <a:rPr lang="en-US" sz="950" b="1" dirty="0">
                <a:solidFill>
                  <a:schemeClr val="bg1"/>
                </a:solidFill>
                <a:latin typeface="Open Sans "/>
              </a:rPr>
              <a:t> V1 - lora satellite animal  Tracker :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 leader project from scratch to market</a:t>
            </a:r>
          </a:p>
          <a:p>
            <a:pPr lvl="1">
              <a:spcBef>
                <a:spcPts val="600"/>
              </a:spcBef>
            </a:pPr>
            <a:r>
              <a:rPr lang="en-US" sz="950" b="1" dirty="0">
                <a:solidFill>
                  <a:schemeClr val="bg1"/>
                </a:solidFill>
                <a:latin typeface="Open Sans "/>
              </a:rPr>
              <a:t>Qoobinoo.io</a:t>
            </a:r>
            <a:r>
              <a:rPr lang="en-US" sz="1100" b="1" dirty="0">
                <a:solidFill>
                  <a:schemeClr val="bg1"/>
                </a:solidFill>
                <a:latin typeface="Open Sans "/>
              </a:rPr>
              <a:t>:</a:t>
            </a:r>
            <a:r>
              <a:rPr lang="en-US" sz="1100" dirty="0">
                <a:solidFill>
                  <a:schemeClr val="bg1"/>
                </a:solidFill>
                <a:latin typeface="Open Sans "/>
              </a:rPr>
              <a:t> </a:t>
            </a:r>
            <a:r>
              <a:rPr lang="en-US" sz="950" dirty="0">
                <a:solidFill>
                  <a:schemeClr val="bg1"/>
                </a:solidFill>
                <a:latin typeface="Open Sans "/>
              </a:rPr>
              <a:t>is a fully integrated platform designed to teach children programming and embedded AI/ML</a:t>
            </a:r>
          </a:p>
          <a:p>
            <a:pPr lvl="1">
              <a:spcBef>
                <a:spcPts val="600"/>
              </a:spcBef>
            </a:pPr>
            <a:endParaRPr lang="en-US" sz="950" dirty="0">
              <a:solidFill>
                <a:schemeClr val="bg1"/>
              </a:solidFill>
              <a:latin typeface="Open Sans "/>
            </a:endParaRPr>
          </a:p>
          <a:p>
            <a:pPr marL="457200" lvl="1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bg1"/>
                </a:solidFill>
                <a:latin typeface="Open Sans "/>
              </a:rPr>
              <a:t>LANGUAGES</a:t>
            </a:r>
          </a:p>
          <a:p>
            <a:pPr lvl="1">
              <a:spcBef>
                <a:spcPts val="600"/>
              </a:spcBef>
            </a:pPr>
            <a:r>
              <a:rPr lang="en-US" sz="950" dirty="0">
                <a:solidFill>
                  <a:schemeClr val="bg1"/>
                </a:solidFill>
                <a:latin typeface="Open Sans "/>
              </a:rPr>
              <a:t>English, Arabic, French , Italian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fr-FR" sz="950" dirty="0">
              <a:solidFill>
                <a:schemeClr val="bg1"/>
              </a:solidFill>
              <a:latin typeface="Open Sans 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2FC87-4361-E48B-7958-6F3472F1962E}"/>
              </a:ext>
            </a:extLst>
          </p:cNvPr>
          <p:cNvSpPr txBox="1"/>
          <p:nvPr/>
        </p:nvSpPr>
        <p:spPr>
          <a:xfrm>
            <a:off x="0" y="6047474"/>
            <a:ext cx="1284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Education</a:t>
            </a:r>
            <a:endParaRPr lang="fr-FR" dirty="0">
              <a:latin typeface="Open Sans Bolod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F233FE-C25F-D9EE-37E5-CA2D11B756A0}"/>
              </a:ext>
            </a:extLst>
          </p:cNvPr>
          <p:cNvSpPr txBox="1"/>
          <p:nvPr/>
        </p:nvSpPr>
        <p:spPr>
          <a:xfrm>
            <a:off x="65127" y="2264403"/>
            <a:ext cx="750764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Embedded Software Integration Team Lead:  </a:t>
            </a:r>
            <a:r>
              <a:rPr lang="en-US" sz="11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BMW Group via Capgemini  (1 year)</a:t>
            </a:r>
          </a:p>
          <a:p>
            <a:endParaRPr lang="en-US" sz="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Lead and manage the Linux and Android Integration Team, ensuring efficient processes and high-quality outcomes.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Provide leadership and support for the </a:t>
            </a:r>
            <a:r>
              <a:rPr lang="en-US" sz="8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Yocto</a:t>
            </a:r>
            <a:r>
              <a:rPr lang="en-US" sz="8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Project Team</a:t>
            </a:r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guiding the development and implementation strategies.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Oversee backlog refinement and manage tasks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Conduct Configuration Control Board (CCB) meetings and provide robust support to the Management team 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r>
              <a:rPr lang="en-US" sz="11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Senior AI Embedded Engineer:  </a:t>
            </a:r>
            <a:r>
              <a:rPr lang="en-US" sz="11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Tuito.fr (1 year)</a:t>
            </a:r>
          </a:p>
          <a:p>
            <a:endParaRPr lang="en-US" sz="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Create custom Linux image with </a:t>
            </a:r>
            <a:r>
              <a:rPr lang="en-US" sz="8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Yocto</a:t>
            </a:r>
            <a:r>
              <a:rPr lang="en-US" sz="8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projec</a:t>
            </a:r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 for AI application to deploy in smart product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Search for technical solutions (target Hardware, Software)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Integrate and optimize AI models on hardware targets for the online / offline and real-time exploitation of multi-sensor data, 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neural network models, and IoT communication stacks</a:t>
            </a:r>
          </a:p>
          <a:p>
            <a:endParaRPr lang="en-US" sz="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1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Senior Embedded Software Engineer:  </a:t>
            </a:r>
            <a:r>
              <a:rPr lang="en-US" sz="11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Géothentic</a:t>
            </a:r>
            <a:r>
              <a:rPr lang="en-US" sz="11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(2,5 years)</a:t>
            </a:r>
          </a:p>
          <a:p>
            <a:endParaRPr lang="en-US" sz="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Develop &amp; design specific Bootloader for NXP i.MX RT Processor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Design centralization pipeline for embedded cross-compilation (ARM) based on </a:t>
            </a:r>
            <a:r>
              <a:rPr lang="en-US" sz="8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Devops</a:t>
            </a:r>
            <a:endParaRPr lang="en-US" sz="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Create &amp; develop new generation of product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Research, development and manufacture of internal tools (Software and Hardware)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Analyze and find solution for bugs in products</a:t>
            </a:r>
          </a:p>
          <a:p>
            <a:endParaRPr lang="en-US" sz="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1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Product Leader:  </a:t>
            </a:r>
            <a:r>
              <a:rPr lang="en-US" sz="11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Genical.io (3 years)</a:t>
            </a:r>
          </a:p>
          <a:p>
            <a:endParaRPr lang="en-US" sz="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 oversaw the design of a new IoT product intended for the General public.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 effectively supervised and coordinated activities between different teams, such as mechanics, electronics, and programming,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while ensuring that hardware design, plastic injection design, and firmware 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were properly tested and validated.</a:t>
            </a:r>
          </a:p>
          <a:p>
            <a:r>
              <a:rPr lang="en-US" sz="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 played a crucial role in selecting suitable factories and manufacturing partners</a:t>
            </a:r>
            <a:endParaRPr lang="fr-FR" sz="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8AFE8C-0EAC-6EAA-EE15-D4BEF59B15D0}"/>
              </a:ext>
            </a:extLst>
          </p:cNvPr>
          <p:cNvSpPr txBox="1"/>
          <p:nvPr/>
        </p:nvSpPr>
        <p:spPr>
          <a:xfrm>
            <a:off x="1686919" y="112346"/>
            <a:ext cx="101271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Developer &amp; Designer Consumer Electronic – Senior Embedded Systems Developer - Software Developer</a:t>
            </a:r>
            <a:endParaRPr lang="fr-FR" sz="2000" dirty="0">
              <a:latin typeface="Open Sans Bolod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0A4E56-3CCF-EEFF-CE3F-A77EFCC6A774}"/>
              </a:ext>
            </a:extLst>
          </p:cNvPr>
          <p:cNvSpPr txBox="1"/>
          <p:nvPr/>
        </p:nvSpPr>
        <p:spPr>
          <a:xfrm>
            <a:off x="27775" y="68770"/>
            <a:ext cx="140345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latin typeface="Open Sans Bolod"/>
                <a:ea typeface="Open Sans ExtraBold" panose="020B0906030804020204" pitchFamily="34" charset="0"/>
                <a:cs typeface="Open Sans ExtraBold" panose="020B0906030804020204" pitchFamily="34" charset="0"/>
              </a:rPr>
              <a:t>       C</a:t>
            </a:r>
            <a:r>
              <a:rPr lang="en-US" sz="1200" b="1" dirty="0" err="1">
                <a:latin typeface="Open Sans Bolod"/>
                <a:ea typeface="Open Sans ExtraBold" panose="020B0906030804020204" pitchFamily="34" charset="0"/>
                <a:cs typeface="Open Sans ExtraBold" panose="020B0906030804020204" pitchFamily="34" charset="0"/>
              </a:rPr>
              <a:t>ontact</a:t>
            </a:r>
            <a:endParaRPr lang="en-US" sz="1200" b="1" dirty="0">
              <a:latin typeface="Open Sans Bolod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  <a:p>
            <a:pPr algn="ctr"/>
            <a:endParaRPr lang="en-US" sz="95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9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www.bousselmi.tn</a:t>
            </a:r>
            <a:endParaRPr lang="en-US" sz="95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9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Contact@bousselmi.tn</a:t>
            </a:r>
            <a:endParaRPr lang="en-US" sz="95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9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+216 25 288 647</a:t>
            </a:r>
          </a:p>
          <a:p>
            <a:r>
              <a:rPr lang="en-US" sz="9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Github.com/</a:t>
            </a:r>
            <a:r>
              <a:rPr lang="en-US" sz="95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Bsm</a:t>
            </a:r>
            <a:r>
              <a:rPr lang="en-US" sz="95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-B</a:t>
            </a:r>
            <a:endParaRPr lang="fr-FR" sz="95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5B918F-7576-07C5-B707-C64CC6656B96}"/>
              </a:ext>
            </a:extLst>
          </p:cNvPr>
          <p:cNvSpPr txBox="1"/>
          <p:nvPr/>
        </p:nvSpPr>
        <p:spPr>
          <a:xfrm>
            <a:off x="65127" y="1325329"/>
            <a:ext cx="77247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>
                <a:latin typeface="Open Sans Bolod"/>
              </a:rPr>
              <a:t>Seasoned developer and designer of consumer electronic products, with a portfolio of four market-launched products. Skilled in embedded systems, IoT, and software development, with expertise spanning hardware integration, product lifecycle management, and cross-functional collaboration.</a:t>
            </a:r>
          </a:p>
          <a:p>
            <a:r>
              <a:rPr lang="en-US" sz="950" dirty="0">
                <a:latin typeface="Open Sans Bolod"/>
              </a:rPr>
              <a:t>Proven track record in leading high-impact projects and delivering tailored solutions for automotive and consumer electronics sectors.</a:t>
            </a:r>
          </a:p>
        </p:txBody>
      </p:sp>
    </p:spTree>
    <p:extLst>
      <p:ext uri="{BB962C8B-B14F-4D97-AF65-F5344CB8AC3E}">
        <p14:creationId xmlns:p14="http://schemas.microsoft.com/office/powerpoint/2010/main" val="2069952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1270</TotalTime>
  <Words>683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Open Sans </vt:lpstr>
      <vt:lpstr>Open Sans Bolod</vt:lpstr>
      <vt:lpstr>Open Sans ExtraBold</vt:lpstr>
      <vt:lpstr>Open Sans Light</vt:lpstr>
      <vt:lpstr>Office 2013 - 2022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BOUSSELMI, Bessem</dc:creator>
  <cp:lastModifiedBy>BOUSSELMI, Bessem</cp:lastModifiedBy>
  <cp:revision>9</cp:revision>
  <dcterms:created xsi:type="dcterms:W3CDTF">2024-11-13T12:28:17Z</dcterms:created>
  <dcterms:modified xsi:type="dcterms:W3CDTF">2025-01-06T15:54:23Z</dcterms:modified>
</cp:coreProperties>
</file>